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8229600" cx="14630400"/>
  <p:notesSz cx="8229600" cy="146304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While 2D generative AI can now produce breathtaking anime illustrations in seconds, the 3D pipeline for this style remains a major bottleneck.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Creating high-quality 3D anime assets currently requires weeks of manual labor by specialized artists to maintain 'on-model' consistency. Our goal is to close this gap: by finetuning a model that already understands 3D geometry, we want to enable the instant conversion of 2D anime characters into 3D assets for games, VR, and digital art.</a:t>
            </a:r>
            <a:endParaRPr sz="700"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8cafaf46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e68cafaf46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68cafaf46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8cafaf46_0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e68cafaf46_0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68cafaf46_0_2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68cafaf46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68cafaf46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68cafaf46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8cafaf46_0_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e68cafaf46_0_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68cafaf46_0_3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Three way to tackle the problem</a:t>
            </a:r>
            <a:endParaRPr/>
          </a:p>
        </p:txBody>
      </p:sp>
      <p:sp>
        <p:nvSpPr>
          <p:cNvPr id="177" name="Google Shape;1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348" y="608290"/>
            <a:ext cx="5259586" cy="70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/>
          <p:nvPr/>
        </p:nvSpPr>
        <p:spPr>
          <a:xfrm>
            <a:off x="793790" y="795695"/>
            <a:ext cx="3240524" cy="426244"/>
          </a:xfrm>
          <a:prstGeom prst="roundRect">
            <a:avLst>
              <a:gd fmla="val 17880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0"/>
          <p:cNvSpPr/>
          <p:nvPr/>
        </p:nvSpPr>
        <p:spPr>
          <a:xfrm>
            <a:off x="929878" y="863679"/>
            <a:ext cx="2968347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3-MINUTE PROJECT PRESENTATION</a:t>
            </a:r>
            <a:endParaRPr b="0" i="0" sz="1400" u="none" cap="none" strike="noStrike"/>
          </a:p>
        </p:txBody>
      </p:sp>
      <p:sp>
        <p:nvSpPr>
          <p:cNvPr id="82" name="Google Shape;82;p20"/>
          <p:cNvSpPr/>
          <p:nvPr/>
        </p:nvSpPr>
        <p:spPr>
          <a:xfrm>
            <a:off x="793790" y="1617214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Domain-Specific 3DGS Generation</a:t>
            </a:r>
            <a:endParaRPr b="0" i="0" sz="4450" u="none" cap="none" strike="noStrike"/>
          </a:p>
        </p:txBody>
      </p:sp>
      <p:sp>
        <p:nvSpPr>
          <p:cNvPr id="83" name="Google Shape;83;p20"/>
          <p:cNvSpPr/>
          <p:nvPr/>
        </p:nvSpPr>
        <p:spPr>
          <a:xfrm>
            <a:off x="793790" y="3316384"/>
            <a:ext cx="7556400" cy="29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50"/>
              <a:buFont typeface="Roboto"/>
              <a:buNone/>
            </a:pPr>
            <a:r>
              <a:rPr b="0" i="0" lang="en-US" sz="5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Finetuning DIFFSPLAT for Anime Characters</a:t>
            </a:r>
            <a:endParaRPr b="0" i="0" sz="5850" u="none" cap="none" strike="noStrike"/>
          </a:p>
        </p:txBody>
      </p:sp>
      <p:sp>
        <p:nvSpPr>
          <p:cNvPr id="84" name="Google Shape;84;p20"/>
          <p:cNvSpPr/>
          <p:nvPr/>
        </p:nvSpPr>
        <p:spPr>
          <a:xfrm>
            <a:off x="793790" y="6345198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Exploring how to adapt a powerful 3D Gaussian Splatting diffusion framework to the stylized anime domain — and what we learned from the first attempt.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567000" y="906750"/>
            <a:ext cx="11729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>
                <a:solidFill>
                  <a:schemeClr val="lt1"/>
                </a:solidFill>
              </a:rPr>
              <a:t>Motivation: </a:t>
            </a:r>
            <a:r>
              <a:rPr b="1" lang="en-US" sz="3300">
                <a:solidFill>
                  <a:schemeClr val="lt1"/>
                </a:solidFill>
              </a:rPr>
              <a:t>High Production Cost &amp; Expertise Gap</a:t>
            </a:r>
            <a:endParaRPr b="1" sz="33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25287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Roboto"/>
              <a:buNone/>
            </a:pPr>
            <a:r>
              <a:t/>
            </a:r>
            <a:endParaRPr sz="43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21"/>
          <p:cNvSpPr txBox="1"/>
          <p:nvPr/>
        </p:nvSpPr>
        <p:spPr>
          <a:xfrm>
            <a:off x="567000" y="2275750"/>
            <a:ext cx="65781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700"/>
              <a:buChar char="●"/>
            </a:pPr>
            <a:r>
              <a:rPr lang="en-US" sz="2700">
                <a:solidFill>
                  <a:schemeClr val="lt1"/>
                </a:solidFill>
              </a:rPr>
              <a:t>High-quality 3D models often take weeks of manual work by skilled artists.</a:t>
            </a:r>
            <a:endParaRPr sz="2700">
              <a:solidFill>
                <a:schemeClr val="lt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700"/>
              <a:buChar char="●"/>
            </a:pPr>
            <a:r>
              <a:rPr lang="en-US" sz="2700">
                <a:solidFill>
                  <a:schemeClr val="lt1"/>
                </a:solidFill>
              </a:rPr>
              <a:t>Keeping characters consistent and “on-model” is especially difficult.</a:t>
            </a:r>
            <a:endParaRPr sz="27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  <p:pic>
        <p:nvPicPr>
          <p:cNvPr id="92" name="Google Shape;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5100" y="2201075"/>
            <a:ext cx="7016374" cy="466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37" y="593288"/>
            <a:ext cx="5282209" cy="7043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2"/>
          <p:cNvSpPr/>
          <p:nvPr/>
        </p:nvSpPr>
        <p:spPr>
          <a:xfrm>
            <a:off x="6280190" y="728424"/>
            <a:ext cx="5103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Robot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Why DiffSplat?</a:t>
            </a:r>
            <a:endParaRPr b="0" i="0" sz="4000" u="none" cap="none" strike="noStrike"/>
          </a:p>
        </p:txBody>
      </p:sp>
      <p:sp>
        <p:nvSpPr>
          <p:cNvPr id="101" name="Google Shape;101;p22"/>
          <p:cNvSpPr/>
          <p:nvPr/>
        </p:nvSpPr>
        <p:spPr>
          <a:xfrm>
            <a:off x="6280190" y="1641872"/>
            <a:ext cx="7556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DiffSplat is a 3D generation framework fine-tuned from pretrained 2D diffusion models, producing Gaussian Splats renderable in ~1–2 seconds.</a:t>
            </a:r>
            <a:endParaRPr b="0" i="0" sz="1600" u="none" cap="none" strike="noStrike"/>
          </a:p>
        </p:txBody>
      </p:sp>
      <p:sp>
        <p:nvSpPr>
          <p:cNvPr id="102" name="Google Shape;102;p22"/>
          <p:cNvSpPr/>
          <p:nvPr/>
        </p:nvSpPr>
        <p:spPr>
          <a:xfrm>
            <a:off x="6280190" y="2469118"/>
            <a:ext cx="3686400" cy="2579400"/>
          </a:xfrm>
          <a:prstGeom prst="roundRect">
            <a:avLst>
              <a:gd fmla="val 332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2"/>
          <p:cNvSpPr/>
          <p:nvPr/>
        </p:nvSpPr>
        <p:spPr>
          <a:xfrm>
            <a:off x="6491883" y="2680811"/>
            <a:ext cx="612300" cy="612300"/>
          </a:xfrm>
          <a:prstGeom prst="roundRect">
            <a:avLst>
              <a:gd fmla="val 14931436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0237" y="2849166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2"/>
          <p:cNvSpPr/>
          <p:nvPr/>
        </p:nvSpPr>
        <p:spPr>
          <a:xfrm>
            <a:off x="6491883" y="3476863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Roboto"/>
              <a:buNone/>
            </a:pPr>
            <a:r>
              <a:rPr b="0" i="0" lang="en-US" sz="20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Strong 2D Priors</a:t>
            </a:r>
            <a:endParaRPr b="0" i="0" sz="2000" u="none" cap="none" strike="noStrike"/>
          </a:p>
        </p:txBody>
      </p:sp>
      <p:sp>
        <p:nvSpPr>
          <p:cNvPr id="106" name="Google Shape;106;p22"/>
          <p:cNvSpPr/>
          <p:nvPr/>
        </p:nvSpPr>
        <p:spPr>
          <a:xfrm>
            <a:off x="6491883" y="3905845"/>
            <a:ext cx="32628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Built on large pretrained diffusion backbones with rich visual understanding.</a:t>
            </a:r>
            <a:endParaRPr b="0" i="0" sz="1600" u="none" cap="none" strike="noStrike"/>
          </a:p>
        </p:txBody>
      </p:sp>
      <p:sp>
        <p:nvSpPr>
          <p:cNvPr id="107" name="Google Shape;107;p22"/>
          <p:cNvSpPr/>
          <p:nvPr/>
        </p:nvSpPr>
        <p:spPr>
          <a:xfrm>
            <a:off x="10150197" y="2469118"/>
            <a:ext cx="3686400" cy="2579400"/>
          </a:xfrm>
          <a:prstGeom prst="roundRect">
            <a:avLst>
              <a:gd fmla="val 3324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/>
          <p:nvPr/>
        </p:nvSpPr>
        <p:spPr>
          <a:xfrm>
            <a:off x="10361890" y="2680811"/>
            <a:ext cx="612300" cy="612300"/>
          </a:xfrm>
          <a:prstGeom prst="roundRect">
            <a:avLst>
              <a:gd fmla="val 14931436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30245" y="2849166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/>
          <p:nvPr/>
        </p:nvSpPr>
        <p:spPr>
          <a:xfrm>
            <a:off x="10361890" y="3476863"/>
            <a:ext cx="30207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Roboto"/>
              <a:buNone/>
            </a:pPr>
            <a:r>
              <a:rPr b="0" i="0" lang="en-US" sz="20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Single-Image Conditioning</a:t>
            </a:r>
            <a:endParaRPr b="0" i="0" sz="2000" u="none" cap="none" strike="noStrike"/>
          </a:p>
        </p:txBody>
      </p:sp>
      <p:sp>
        <p:nvSpPr>
          <p:cNvPr id="111" name="Google Shape;111;p22"/>
          <p:cNvSpPr/>
          <p:nvPr/>
        </p:nvSpPr>
        <p:spPr>
          <a:xfrm>
            <a:off x="10361890" y="3905845"/>
            <a:ext cx="32631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Supports generation from one reference image — matching our task exactly.</a:t>
            </a:r>
            <a:endParaRPr b="0" i="0" sz="1600" u="none" cap="none" strike="noStrike"/>
          </a:p>
        </p:txBody>
      </p:sp>
      <p:sp>
        <p:nvSpPr>
          <p:cNvPr id="112" name="Google Shape;112;p22"/>
          <p:cNvSpPr/>
          <p:nvPr/>
        </p:nvSpPr>
        <p:spPr>
          <a:xfrm>
            <a:off x="6280190" y="5232083"/>
            <a:ext cx="7556400" cy="2268900"/>
          </a:xfrm>
          <a:prstGeom prst="roundRect">
            <a:avLst>
              <a:gd fmla="val 377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6491883" y="5443776"/>
            <a:ext cx="612300" cy="612300"/>
          </a:xfrm>
          <a:prstGeom prst="roundRect">
            <a:avLst>
              <a:gd fmla="val 14931436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0237" y="5612130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6491883" y="6239827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Roboto"/>
              <a:buNone/>
            </a:pPr>
            <a:r>
              <a:rPr b="0" i="0" lang="en-US" sz="20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Practical &amp; Scalable</a:t>
            </a:r>
            <a:endParaRPr b="0" i="0" sz="2000" u="none" cap="none" strike="noStrike"/>
          </a:p>
        </p:txBody>
      </p:sp>
      <p:sp>
        <p:nvSpPr>
          <p:cNvPr id="116" name="Google Shape;116;p22"/>
          <p:cNvSpPr/>
          <p:nvPr/>
        </p:nvSpPr>
        <p:spPr>
          <a:xfrm>
            <a:off x="6491883" y="6668810"/>
            <a:ext cx="7133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Faster than optimization-based reconstruction; easier to fine-tune than training a 3D-native model from scratch.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558165" y="446723"/>
            <a:ext cx="1114800" cy="284700"/>
          </a:xfrm>
          <a:prstGeom prst="roundRect">
            <a:avLst>
              <a:gd fmla="val 18832" name="adj"/>
            </a:avLst>
          </a:prstGeom>
          <a:noFill/>
          <a:ln cap="flat" cmpd="sng" w="9525">
            <a:solidFill>
              <a:srgbClr val="5A6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/>
          <p:nvPr/>
        </p:nvSpPr>
        <p:spPr>
          <a:xfrm>
            <a:off x="661392" y="502087"/>
            <a:ext cx="9081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ED8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ARCHITECTURE</a:t>
            </a:r>
            <a:endParaRPr b="0" i="0" sz="1000" u="none" cap="none" strike="noStrike"/>
          </a:p>
        </p:txBody>
      </p:sp>
      <p:sp>
        <p:nvSpPr>
          <p:cNvPr id="124" name="Google Shape;124;p23"/>
          <p:cNvSpPr/>
          <p:nvPr/>
        </p:nvSpPr>
        <p:spPr>
          <a:xfrm>
            <a:off x="558165" y="944249"/>
            <a:ext cx="3987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Roboto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How DiffSplat Works</a:t>
            </a:r>
            <a:endParaRPr b="0" i="0" sz="3400" u="none" cap="none" strike="noStrike"/>
          </a:p>
        </p:txBody>
      </p:sp>
      <p:pic>
        <p:nvPicPr>
          <p:cNvPr descr="preencoded.png" id="125" name="Google Shape;1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886" y="1442561"/>
            <a:ext cx="13402630" cy="577953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/>
          <p:nvPr/>
        </p:nvSpPr>
        <p:spPr>
          <a:xfrm>
            <a:off x="1515734" y="6126078"/>
            <a:ext cx="30405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Roboto"/>
              <a:buNone/>
            </a:pPr>
            <a:r>
              <a:rPr b="0" i="0" lang="en-US" sz="2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Render Novel View</a:t>
            </a:r>
            <a:endParaRPr b="0" i="0" sz="2350" u="none" cap="none" strike="noStrike"/>
          </a:p>
        </p:txBody>
      </p:sp>
      <p:sp>
        <p:nvSpPr>
          <p:cNvPr id="127" name="Google Shape;127;p23"/>
          <p:cNvSpPr/>
          <p:nvPr/>
        </p:nvSpPr>
        <p:spPr>
          <a:xfrm>
            <a:off x="1515734" y="4788209"/>
            <a:ext cx="30405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Roboto"/>
              <a:buNone/>
            </a:pPr>
            <a:r>
              <a:rPr b="0" i="0" lang="en-US" sz="2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GSVAE Decode</a:t>
            </a:r>
            <a:endParaRPr b="0" i="0" sz="2350" u="none" cap="none" strike="noStrike"/>
          </a:p>
        </p:txBody>
      </p:sp>
      <p:sp>
        <p:nvSpPr>
          <p:cNvPr id="128" name="Google Shape;128;p23"/>
          <p:cNvSpPr/>
          <p:nvPr/>
        </p:nvSpPr>
        <p:spPr>
          <a:xfrm>
            <a:off x="1515734" y="3463855"/>
            <a:ext cx="30405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Roboto"/>
              <a:buNone/>
            </a:pPr>
            <a:r>
              <a:rPr b="0" i="0" lang="en-US" sz="2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Diffusion Predicts GS</a:t>
            </a:r>
            <a:endParaRPr b="0" i="0" sz="2350" u="none" cap="none" strike="noStrike"/>
          </a:p>
        </p:txBody>
      </p:sp>
      <p:sp>
        <p:nvSpPr>
          <p:cNvPr id="129" name="Google Shape;129;p23"/>
          <p:cNvSpPr/>
          <p:nvPr/>
        </p:nvSpPr>
        <p:spPr>
          <a:xfrm>
            <a:off x="1515734" y="2125987"/>
            <a:ext cx="30405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Roboto"/>
              <a:buNone/>
            </a:pPr>
            <a:r>
              <a:rPr b="0" i="0" lang="en-US" sz="2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Input Image</a:t>
            </a:r>
            <a:endParaRPr b="0" i="0" sz="2350" u="none" cap="none" strike="noStrike"/>
          </a:p>
        </p:txBody>
      </p:sp>
      <p:sp>
        <p:nvSpPr>
          <p:cNvPr id="130" name="Google Shape;130;p23"/>
          <p:cNvSpPr/>
          <p:nvPr/>
        </p:nvSpPr>
        <p:spPr>
          <a:xfrm>
            <a:off x="434400" y="7116849"/>
            <a:ext cx="137616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DiffSplat is not a pure 2D model — it's a pretrained 2D diffusion backbone adapted with multi-view attention to generate a 3D Gaussian representation decodable and renderable from any angle</a:t>
            </a: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545783" y="432554"/>
            <a:ext cx="624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50"/>
              <a:buFont typeface="Roboto"/>
              <a:buNone/>
            </a:pPr>
            <a:r>
              <a:rPr lang="en-US" sz="34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Preparation</a:t>
            </a:r>
            <a:endParaRPr b="0" i="0" sz="3450" u="none" cap="none" strike="noStrike"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6850" y="695629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1425" y="695629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6450" y="695625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1575" y="695625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5000" y="988025"/>
            <a:ext cx="4461650" cy="44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54100" y="1026250"/>
            <a:ext cx="4385199" cy="438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30000" y="695639"/>
            <a:ext cx="4876800" cy="487677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617625" y="4832525"/>
            <a:ext cx="111540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Pipeline:</a:t>
            </a:r>
            <a:r>
              <a:rPr lang="en-US" sz="1900">
                <a:solidFill>
                  <a:schemeClr val="lt1"/>
                </a:solidFill>
              </a:rPr>
              <a:t> Automated Blender-to-Dataset workflow.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Scale:</a:t>
            </a:r>
            <a:r>
              <a:rPr lang="en-US" sz="1900">
                <a:solidFill>
                  <a:schemeClr val="lt1"/>
                </a:solidFill>
              </a:rPr>
              <a:t> 20 unique anime characters.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View Density:</a:t>
            </a:r>
            <a:r>
              <a:rPr lang="en-US" sz="1900">
                <a:solidFill>
                  <a:schemeClr val="lt1"/>
                </a:solidFill>
              </a:rPr>
              <a:t> 40 multi-view angles per character to ensure 3D coherence.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Objective:</a:t>
            </a:r>
            <a:r>
              <a:rPr lang="en-US" sz="1900">
                <a:solidFill>
                  <a:schemeClr val="lt1"/>
                </a:solidFill>
              </a:rPr>
              <a:t> Establishing a domain-specific baseline for gsdiff_sd </a:t>
            </a:r>
            <a:r>
              <a:rPr lang="en-US" sz="1900">
                <a:solidFill>
                  <a:schemeClr val="lt1"/>
                </a:solidFill>
              </a:rPr>
              <a:t>fine-tuning</a:t>
            </a:r>
            <a:r>
              <a:rPr lang="en-US" sz="1900">
                <a:solidFill>
                  <a:schemeClr val="lt1"/>
                </a:solidFill>
              </a:rPr>
              <a:t>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/>
          <p:nvPr/>
        </p:nvSpPr>
        <p:spPr>
          <a:xfrm>
            <a:off x="781407" y="679966"/>
            <a:ext cx="8591907" cy="69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Roboto"/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Initial Results: The Anime Problem</a:t>
            </a:r>
            <a:endParaRPr b="0" i="0" sz="4350" u="none" cap="none" strike="noStrike"/>
          </a:p>
        </p:txBody>
      </p:sp>
      <p:sp>
        <p:nvSpPr>
          <p:cNvPr id="151" name="Google Shape;151;p25"/>
          <p:cNvSpPr/>
          <p:nvPr/>
        </p:nvSpPr>
        <p:spPr>
          <a:xfrm>
            <a:off x="5553200" y="2415325"/>
            <a:ext cx="28878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25"/>
              <a:buFont typeface="Roboto"/>
              <a:buNone/>
            </a:pPr>
            <a:r>
              <a:rPr b="0" i="0" lang="en-US" sz="22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We Expected</a:t>
            </a:r>
            <a:endParaRPr b="0" i="0" sz="2225" u="none" cap="none" strike="noStrike"/>
          </a:p>
        </p:txBody>
      </p:sp>
      <p:sp>
        <p:nvSpPr>
          <p:cNvPr id="152" name="Google Shape;152;p25"/>
          <p:cNvSpPr/>
          <p:nvPr/>
        </p:nvSpPr>
        <p:spPr>
          <a:xfrm>
            <a:off x="5553200" y="3003726"/>
            <a:ext cx="85920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11"/>
              <a:buFont typeface="Roboto"/>
              <a:buNone/>
            </a:pPr>
            <a:r>
              <a:rPr b="0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DIFFSPLAT excels at photorealistic objects — clean geometry, sharp textures, coherent multi-view consistency.</a:t>
            </a:r>
            <a:endParaRPr b="0" i="0" sz="1811" u="none" cap="none" strike="noStrike"/>
          </a:p>
        </p:txBody>
      </p:sp>
      <p:sp>
        <p:nvSpPr>
          <p:cNvPr id="153" name="Google Shape;153;p25"/>
          <p:cNvSpPr/>
          <p:nvPr/>
        </p:nvSpPr>
        <p:spPr>
          <a:xfrm>
            <a:off x="5553200" y="3964437"/>
            <a:ext cx="28878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25"/>
              <a:buFont typeface="Roboto"/>
              <a:buNone/>
            </a:pPr>
            <a:r>
              <a:rPr b="0" i="0" lang="en-US" sz="22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We Got</a:t>
            </a:r>
            <a:endParaRPr b="0" i="0" sz="2225" u="none" cap="none" strike="noStrike"/>
          </a:p>
        </p:txBody>
      </p:sp>
      <p:sp>
        <p:nvSpPr>
          <p:cNvPr id="154" name="Google Shape;154;p25"/>
          <p:cNvSpPr/>
          <p:nvPr/>
        </p:nvSpPr>
        <p:spPr>
          <a:xfrm>
            <a:off x="5553200" y="4552838"/>
            <a:ext cx="8592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11"/>
              <a:buFont typeface="Roboto"/>
              <a:buNone/>
            </a:pPr>
            <a:r>
              <a:rPr b="0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  <a:r>
              <a:rPr lang="en-US" sz="181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One Piece</a:t>
            </a:r>
            <a:r>
              <a:rPr b="0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generation reveals the core failure mode:</a:t>
            </a:r>
            <a:endParaRPr b="0" i="0" sz="1811" u="none" cap="none" strike="noStrike"/>
          </a:p>
        </p:txBody>
      </p:sp>
      <p:sp>
        <p:nvSpPr>
          <p:cNvPr id="155" name="Google Shape;155;p25"/>
          <p:cNvSpPr/>
          <p:nvPr/>
        </p:nvSpPr>
        <p:spPr>
          <a:xfrm>
            <a:off x="5553200" y="5124114"/>
            <a:ext cx="8592000" cy="1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11"/>
              <a:buFont typeface="Roboto"/>
              <a:buNone/>
            </a:pPr>
            <a:r>
              <a:rPr b="1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Muddy, washed-out textures</a:t>
            </a:r>
            <a:r>
              <a:rPr b="0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no vibrant color separation</a:t>
            </a:r>
            <a:endParaRPr b="0" i="0" sz="1811" u="none" cap="none" strike="noStrike"/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11"/>
              <a:buFont typeface="Roboto"/>
              <a:buNone/>
            </a:pPr>
            <a:r>
              <a:rPr b="1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Indistinct defining features</a:t>
            </a:r>
            <a:r>
              <a:rPr b="0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hair spikes and headband collapse</a:t>
            </a:r>
            <a:endParaRPr b="0" i="0" sz="1811" u="none" cap="none" strike="noStrike"/>
          </a:p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11"/>
              <a:buFont typeface="Roboto"/>
              <a:buNone/>
            </a:pPr>
            <a:r>
              <a:rPr b="1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Broken structural coherence</a:t>
            </a:r>
            <a:r>
              <a:rPr b="0" i="0" lang="en-US" sz="1811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stylized topology not preserved</a:t>
            </a:r>
            <a:endParaRPr b="0" i="0" sz="1811" u="none" cap="none" strike="noStrike"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00" y="2099675"/>
            <a:ext cx="4533351" cy="465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793790" y="1382792"/>
            <a:ext cx="1088400" cy="426300"/>
          </a:xfrm>
          <a:prstGeom prst="roundRect">
            <a:avLst>
              <a:gd fmla="val 17880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/>
          <p:nvPr/>
        </p:nvSpPr>
        <p:spPr>
          <a:xfrm>
            <a:off x="929878" y="1450777"/>
            <a:ext cx="816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b="0" i="0" sz="1400" u="none" cap="none" strike="noStrike"/>
          </a:p>
        </p:txBody>
      </p:sp>
      <p:sp>
        <p:nvSpPr>
          <p:cNvPr id="164" name="Google Shape;164;p26"/>
          <p:cNvSpPr/>
          <p:nvPr/>
        </p:nvSpPr>
        <p:spPr>
          <a:xfrm>
            <a:off x="793790" y="1899761"/>
            <a:ext cx="6967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Why Does It Struggle? (2/2)</a:t>
            </a:r>
            <a:endParaRPr b="0" i="0" sz="4450" u="none" cap="none" strike="noStrike"/>
          </a:p>
        </p:txBody>
      </p:sp>
      <p:pic>
        <p:nvPicPr>
          <p:cNvPr descr="preencoded.png" id="165" name="Google Shape;1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948702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/>
          <p:nvPr/>
        </p:nvSpPr>
        <p:spPr>
          <a:xfrm>
            <a:off x="793790" y="3685818"/>
            <a:ext cx="3072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Stylized Rendering Cues</a:t>
            </a:r>
            <a:endParaRPr b="0" i="0" sz="2200" u="none" cap="none" strike="noStrike"/>
          </a:p>
        </p:txBody>
      </p:sp>
      <p:sp>
        <p:nvSpPr>
          <p:cNvPr id="167" name="Google Shape;167;p26"/>
          <p:cNvSpPr/>
          <p:nvPr/>
        </p:nvSpPr>
        <p:spPr>
          <a:xfrm>
            <a:off x="793790" y="4176236"/>
            <a:ext cx="63795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Anime uses </a:t>
            </a:r>
            <a:r>
              <a:rPr b="1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flat shading and outlines</a:t>
            </a: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instead of realistic lighting — providing weaker depth and material signals than natural photos.</a:t>
            </a:r>
            <a:endParaRPr b="0" i="0" sz="1750" u="none" cap="none" strike="noStrike"/>
          </a:p>
        </p:txBody>
      </p:sp>
      <p:pic>
        <p:nvPicPr>
          <p:cNvPr descr="preencoded.png" id="168" name="Google Shape;1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2948702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/>
          <p:nvPr/>
        </p:nvSpPr>
        <p:spPr>
          <a:xfrm>
            <a:off x="7456884" y="368581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Character Complexity</a:t>
            </a:r>
            <a:endParaRPr b="0" i="0" sz="2200" u="none" cap="none" strike="noStrike"/>
          </a:p>
        </p:txBody>
      </p:sp>
      <p:sp>
        <p:nvSpPr>
          <p:cNvPr id="170" name="Google Shape;170;p26"/>
          <p:cNvSpPr/>
          <p:nvPr/>
        </p:nvSpPr>
        <p:spPr>
          <a:xfrm>
            <a:off x="7456884" y="4176236"/>
            <a:ext cx="6379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Human-like bodies with </a:t>
            </a:r>
            <a:r>
              <a:rPr b="1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thin limbs, flowing hair, hats, and clothing folds</a:t>
            </a: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are far harder than rigid, toy-like objects in the original training data.</a:t>
            </a:r>
            <a:endParaRPr b="0" i="0" sz="1750" u="none" cap="none" strike="noStrike"/>
          </a:p>
        </p:txBody>
      </p:sp>
      <p:sp>
        <p:nvSpPr>
          <p:cNvPr id="171" name="Google Shape;171;p26"/>
          <p:cNvSpPr/>
          <p:nvPr/>
        </p:nvSpPr>
        <p:spPr>
          <a:xfrm>
            <a:off x="793790" y="5520095"/>
            <a:ext cx="13042800" cy="1326600"/>
          </a:xfrm>
          <a:prstGeom prst="roundRect">
            <a:avLst>
              <a:gd fmla="val 7181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0604" y="5864185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/>
          <p:nvPr/>
        </p:nvSpPr>
        <p:spPr>
          <a:xfrm>
            <a:off x="1530906" y="5803583"/>
            <a:ext cx="120789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 with fine-tuned diffusion weights, the GSVAE and reconstruction pipeline retain biases from the original object-centric training domain.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1825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2" y="605909"/>
            <a:ext cx="5263158" cy="701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/>
          <p:nvPr/>
        </p:nvSpPr>
        <p:spPr>
          <a:xfrm>
            <a:off x="6267807" y="669488"/>
            <a:ext cx="6152198" cy="69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Roboto"/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Conclusion &amp; Next Steps</a:t>
            </a:r>
            <a:endParaRPr b="0" i="0" sz="4350" u="none" cap="none" strike="noStrike"/>
          </a:p>
        </p:txBody>
      </p:sp>
      <p:pic>
        <p:nvPicPr>
          <p:cNvPr descr="preencoded.png" id="182" name="Google Shape;1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3700" y="1804150"/>
            <a:ext cx="1195750" cy="235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7494879" y="2125266"/>
            <a:ext cx="3116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303"/>
              <a:buFont typeface="Roboto"/>
              <a:buNone/>
            </a:pPr>
            <a:r>
              <a:rPr b="0" i="0" lang="en-US" sz="2303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Curate Stylized Dataset</a:t>
            </a:r>
            <a:endParaRPr b="0" i="0" sz="2303" u="none" cap="none" strike="noStrike"/>
          </a:p>
        </p:txBody>
      </p:sp>
      <p:sp>
        <p:nvSpPr>
          <p:cNvPr id="184" name="Google Shape;184;p27"/>
          <p:cNvSpPr/>
          <p:nvPr/>
        </p:nvSpPr>
        <p:spPr>
          <a:xfrm>
            <a:off x="7494879" y="2816649"/>
            <a:ext cx="66894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75"/>
              <a:buFont typeface="Roboto"/>
              <a:buNone/>
            </a:pPr>
            <a:r>
              <a:rPr b="0" i="0" lang="en-US" sz="1875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Build a high-quality multi-view anime character dataset with consistent topology and clean annotations.</a:t>
            </a:r>
            <a:endParaRPr b="0" i="0" sz="1875" u="none" cap="none" strike="noStrike"/>
          </a:p>
        </p:txBody>
      </p:sp>
      <p:pic>
        <p:nvPicPr>
          <p:cNvPr descr="preencoded.png" id="185" name="Google Shape;18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3700" y="4157115"/>
            <a:ext cx="1195750" cy="235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/>
          <p:nvPr/>
        </p:nvSpPr>
        <p:spPr>
          <a:xfrm>
            <a:off x="7494879" y="4478230"/>
            <a:ext cx="2989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303"/>
              <a:buFont typeface="Roboto"/>
              <a:buNone/>
            </a:pPr>
            <a:r>
              <a:rPr b="0" i="0" lang="en-US" sz="2303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Geometric Guidance</a:t>
            </a:r>
            <a:endParaRPr b="0" i="0" sz="2303" u="none" cap="none" strike="noStrike"/>
          </a:p>
        </p:txBody>
      </p:sp>
      <p:sp>
        <p:nvSpPr>
          <p:cNvPr id="187" name="Google Shape;187;p27"/>
          <p:cNvSpPr/>
          <p:nvPr/>
        </p:nvSpPr>
        <p:spPr>
          <a:xfrm>
            <a:off x="7494879" y="5169615"/>
            <a:ext cx="66894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75"/>
              <a:buFont typeface="Roboto"/>
              <a:buNone/>
            </a:pPr>
            <a:r>
              <a:rPr b="0" i="0" lang="en-US" sz="1875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Apply ControlNet-style conditioning to inject explicit structural priors into the diffusion process.</a:t>
            </a:r>
            <a:endParaRPr b="0" i="0" sz="1875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